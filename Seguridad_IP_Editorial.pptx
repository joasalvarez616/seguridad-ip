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Presentar al grupo, anunciar el tema y la estructura de tres bloques: protocolos, ataques, controles.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Índice navegable. Explicar los 4 bloques y decir que se puede saltar a cualquier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Divisor. Introducir la sección 1: qué protegemos y el marco normativo colombiano.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 de seguridad IP. Recuerden: no es una caja, es un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4 propiedades. Ejemplos cotidianos para cada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Cadena del riesgo y ciclo PHVA. Explicar que el riesgo se gestiona, no se elimina.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Marco normativo. Resaltar Resolución 500/2021 como norma principal en Colombia.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sección 2. Protocolos.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IPsec: mostrar el diagrama de encapsulación. Mencionar AH, ESP, IKEv2 y modo túnel. Aclarar que ESP es el estándar moderno.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VPN: aclarar que no es lo mismo que IPsec. Los 4 tipos.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TLS. Comparar con IPsec para fijar la diferencia de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sección 3. Ataques.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Spoofing: 4 variantes. Explicar la relación con ataques de amplificación DNS y NTP.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Sniffing. Recalcar la diferencia entre diagnóstico y ataque.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DDoS: mostrar los 3 vectores. Aclarar que spoofing y DDoS van de la mano en ataques de amplificación.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sección 4. Protección.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Segmentación. Aclarar que es la base de Zero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Filtrado: los 3 niveles y las 7 herramientas.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de 10 controles. Cerrar con mínimo privilegio.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Recapitular los tres bloques y agradecer.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12.xml"/><Relationship Id="rId6" Type="http://schemas.openxmlformats.org/officeDocument/2006/relationships/slide" Target="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394960"/>
            <a:ext cx="13716000" cy="54864"/>
          </a:xfrm>
          <a:prstGeom prst="rect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1371600"/>
            <a:ext cx="4114800" cy="41148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0" y="548640"/>
            <a:ext cx="2286000" cy="22860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E6268"/>
                </a:solidFill>
                <a:latin typeface="Arial"/>
              </a:rPr>
              <a:t>G  U  Í  A     D  E     E  S  T  U  D  I  O     ·     C  I  B  E  R  S  E  G  U  R  I  D  A 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800" b="0" i="0">
                <a:solidFill>
                  <a:srgbClr val="FFFFFF"/>
                </a:solidFill>
                <a:latin typeface="Georgia"/>
              </a:rPr>
              <a:t>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800" b="0" i="1">
                <a:solidFill>
                  <a:srgbClr val="E83B1E"/>
                </a:solidFill>
                <a:latin typeface="Georgia"/>
              </a:rPr>
              <a:t>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0632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F4F1EA"/>
                </a:solidFill>
                <a:latin typeface="Georgia"/>
              </a:rPr>
              <a:t>Protocolos, ataques
y controles en 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5440680"/>
            <a:ext cx="5029200" cy="0"/>
          </a:xfrm>
          <a:prstGeom prst="line">
            <a:avLst/>
          </a:prstGeom>
          <a:ln w="9525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56235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1" i="0">
                <a:solidFill>
                  <a:srgbClr val="5E6268"/>
                </a:solidFill>
                <a:latin typeface="Arial"/>
              </a:rPr>
              <a:t>EXPOSICIÓN GRUPAL</a:t>
            </a:r>
          </a:p>
          <a:p>
            <a:pPr algn="l">
              <a:lnSpc>
                <a:spcPct val="150000"/>
              </a:lnSpc>
            </a:pPr>
            <a:r>
              <a:rPr sz="1000" b="0" i="1">
                <a:solidFill>
                  <a:srgbClr val="5E6268"/>
                </a:solidFill>
                <a:latin typeface="Arial"/>
              </a:rPr>
              <a:t>Cuatro integrantes · 20–25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2855" y="502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5E6268"/>
                </a:solidFill>
                <a:latin typeface="Georgia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548640"/>
            <a:ext cx="0" cy="5760720"/>
          </a:xfrm>
          <a:prstGeom prst="line">
            <a:avLst/>
          </a:prstGeom>
          <a:ln w="9525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Í  N  D  I  C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0F14"/>
                </a:solidFill>
                <a:latin typeface="Georgia"/>
              </a:rPr>
              <a:t>Cuatro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0B0F14"/>
                </a:solidFill>
                <a:latin typeface="Georgia"/>
              </a:rPr>
              <a:t>movimientos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Haz clic en cualquier fila para saltar a la sección.</a:t>
            </a:r>
          </a:p>
        </p:txBody>
      </p:sp>
      <p:sp>
        <p:nvSpPr>
          <p:cNvPr id="8" name="Rectangle 7">
            <a:hlinkClick action="ppaction://hlinksldjump" r:id="rId3"/>
          </p:cNvPr>
          <p:cNvSpPr/>
          <p:nvPr/>
        </p:nvSpPr>
        <p:spPr>
          <a:xfrm>
            <a:off x="6446520" y="105156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0584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097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Fundamentos y marco normativo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Qué protegemos y bajo qué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1417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E83B1E"/>
                </a:solidFill>
                <a:latin typeface="Georgia"/>
              </a:rPr>
              <a:t>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214884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hlinkClick action="ppaction://hlinksldjump" r:id="rId4"/>
          </p:cNvPr>
          <p:cNvSpPr/>
          <p:nvPr/>
        </p:nvSpPr>
        <p:spPr>
          <a:xfrm>
            <a:off x="6446520" y="228600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187B7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Protocolos: IPsec, VPN, TLS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788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Cómo se cifra y autentica la comunicación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187B7B"/>
                </a:solidFill>
                <a:latin typeface="Georgia"/>
              </a:rPr>
              <a:t>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338328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hlinkClick action="ppaction://hlinksldjump" r:id="rId5"/>
          </p:cNvPr>
          <p:cNvSpPr/>
          <p:nvPr/>
        </p:nvSpPr>
        <p:spPr>
          <a:xfrm>
            <a:off x="6446520" y="352044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66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Ataques: spoofing, sniffing, DDoS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Cómo operan y qué consecuencias generan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3886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E83B1E"/>
                </a:solidFill>
                <a:latin typeface="Georgia"/>
              </a:rPr>
              <a:t>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461772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hlinkClick action="ppaction://hlinksldjump" r:id="rId6"/>
          </p:cNvPr>
          <p:cNvSpPr/>
          <p:nvPr/>
        </p:nvSpPr>
        <p:spPr>
          <a:xfrm>
            <a:off x="6446520" y="475488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6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00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Protección: segmentación, filtrado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57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Controles, mínimo privilegio y cierre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5120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46520" y="585216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S  E  C  C  I  Ó  N     0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FFFFFF"/>
                </a:solidFill>
                <a:latin typeface="Georgia"/>
              </a:rPr>
              <a:t>y marco normativo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Qué se protege, por qué y bajo qué normas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MSPI · Ley 1581 · ISO 27001 · PHVA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7772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188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Proteger la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que viaja por redes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IPv4 · IPv6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B0F14"/>
                </a:solidFill>
                <a:latin typeface="Arial"/>
              </a:rPr>
              <a:t>La seguridad IP reúne técnicas, políticas y controles para que la información que viaja por la red no sea leída, alterada ni interrumpida por terceros no autorizados.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75319" y="3200400"/>
            <a:ext cx="0" cy="219456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2461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«La seguridad no es un producto que se compra; es un proceso que se gestiona.»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576072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897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Capa 3–7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58978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IPv4 e IPv6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897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RFC · ISO · MinTIC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Lo que se protege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5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E83B1E"/>
                </a:solidFill>
                <a:latin typeface="Georgia"/>
              </a:rPr>
              <a:t>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192023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57400" y="189280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Confidencialidad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0116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Solo quien debe leer, lee.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65175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78891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187B7B"/>
                </a:solidFill>
                <a:latin typeface="Georgia"/>
              </a:rPr>
              <a:t>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97179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7400" y="294436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Integridad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06323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Nadie altera el dato en tránsito.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370331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84047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B88A2E"/>
                </a:solidFill>
                <a:latin typeface="Georgia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402335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57400" y="399592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Disponibilidad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11479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El servicio permanece accesible.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475487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489203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507491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7400" y="504748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Autenticidad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16635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Se sabe quién se comunica con quién.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580643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La cadena del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.0" y="2377440"/>
            <a:ext cx="1871411.0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Lo que tiene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2931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8691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8691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68691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Amenaza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8691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Quién o qué daña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4382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0142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60142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60142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Vulnerabilidad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142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Debilidad explotable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833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593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51593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51593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Riesgo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593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Probabilidad × impacto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7284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3044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43044.0" y="2377440"/>
            <a:ext cx="1871411.0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43044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Incidente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3044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Compromiso real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46634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4846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Ciclo PHVA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Enfoque del MSPI colombiano — la seguridad se gestiona en ciclo continuo.</a:t>
            </a:r>
          </a:p>
        </p:txBody>
      </p:sp>
      <p:sp>
        <p:nvSpPr>
          <p:cNvPr id="32" name="Oval 31"/>
          <p:cNvSpPr/>
          <p:nvPr/>
        </p:nvSpPr>
        <p:spPr>
          <a:xfrm>
            <a:off x="827531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Planear</a:t>
            </a:r>
          </a:p>
        </p:txBody>
      </p:sp>
      <p:sp>
        <p:nvSpPr>
          <p:cNvPr id="35" name="Oval 34"/>
          <p:cNvSpPr/>
          <p:nvPr/>
        </p:nvSpPr>
        <p:spPr>
          <a:xfrm>
            <a:off x="923543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3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Hacer</a:t>
            </a:r>
          </a:p>
        </p:txBody>
      </p:sp>
      <p:sp>
        <p:nvSpPr>
          <p:cNvPr id="38" name="Oval 37"/>
          <p:cNvSpPr/>
          <p:nvPr/>
        </p:nvSpPr>
        <p:spPr>
          <a:xfrm>
            <a:off x="1019555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Verificar</a:t>
            </a:r>
          </a:p>
        </p:txBody>
      </p:sp>
      <p:sp>
        <p:nvSpPr>
          <p:cNvPr id="41" name="Oval 40"/>
          <p:cNvSpPr/>
          <p:nvPr/>
        </p:nvSpPr>
        <p:spPr>
          <a:xfrm>
            <a:off x="1115567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7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1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Actuar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Marco normativo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1874519"/>
            <a:ext cx="0" cy="420624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87451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3B1E"/>
                </a:solidFill>
                <a:latin typeface="Georgia"/>
              </a:rPr>
              <a:t>2021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1947671"/>
            <a:ext cx="201168" cy="201168"/>
          </a:xfrm>
          <a:prstGeom prst="ellips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856231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Resolución 500 de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92023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MinTIC — lineamientos del MSPI: riesgos, controles e incidentes.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7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2012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2788919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697479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Ley 1581 de 2012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761487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Protección de datos personales en Colombia.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5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2022</a:t>
            </a:r>
          </a:p>
        </p:txBody>
      </p:sp>
      <p:sp>
        <p:nvSpPr>
          <p:cNvPr id="15" name="Oval 14"/>
          <p:cNvSpPr/>
          <p:nvPr/>
        </p:nvSpPr>
        <p:spPr>
          <a:xfrm>
            <a:off x="1737360" y="3630167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538727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Decreto 338 de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602735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Gobernanza, riesgo e incidentes en entidades públicas.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2022</a:t>
            </a:r>
          </a:p>
        </p:txBody>
      </p:sp>
      <p:sp>
        <p:nvSpPr>
          <p:cNvPr id="19" name="Oval 18"/>
          <p:cNvSpPr/>
          <p:nvPr/>
        </p:nvSpPr>
        <p:spPr>
          <a:xfrm>
            <a:off x="1737360" y="4471415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379975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ISO/IEC 27001:2022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443983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Sistema de Gestión de Seguridad de la Información (SGSI).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39511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3B1E"/>
                </a:solidFill>
                <a:latin typeface="Georgia"/>
              </a:rPr>
              <a:t>2009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5312663"/>
            <a:ext cx="201168" cy="201168"/>
          </a:xfrm>
          <a:prstGeom prst="ellips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5221223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Ley 1273 de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2852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Tipifica delitos informáticos en Colombia.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3695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3655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Protocolos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3655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5800" b="0" i="1">
                <a:solidFill>
                  <a:srgbClr val="187B7B"/>
                </a:solidFill>
                <a:latin typeface="Georgia"/>
              </a:rPr>
              <a:t>IPsec · VPN · TLS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02775" y="4343400"/>
            <a:ext cx="2011680" cy="0"/>
          </a:xfrm>
          <a:prstGeom prst="line">
            <a:avLst/>
          </a:prstGeom>
          <a:ln w="15875">
            <a:solidFill>
              <a:srgbClr val="187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84855" y="4572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Cómo se cifra y autentica la comunicación entre extremos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4855" y="4892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RFC 4301 · RFC 8446 · IKEv2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777240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S  E  C  C  I  Ó  N     0 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Internet Protocol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RFC 4301 · IETF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Paquete original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292608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IP  | 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060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187B7B"/>
                </a:solidFill>
                <a:latin typeface="Georg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Paquete protegido por IPsec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651760"/>
            <a:ext cx="137160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IP nuevo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1371600" cy="64008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ESP hdr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651760"/>
            <a:ext cx="237744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51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Datos cifrados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651760"/>
            <a:ext cx="1280160" cy="64008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651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ESP auth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2062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Autentica e integra. No cifra.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6543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ESP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6543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Cifra, autentica e integra. El más usado.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IKEv2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Negocia claves y parámetros de seguridad.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5151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Modo túnel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5151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Encapsula el paquete IP completo. VPN sitio a sitio.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VPN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Red Privada Virtual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331720"/>
            <a:ext cx="0" cy="292608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51460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Un canal lógico privado
sobre una red pública.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No es IPsec. IPsec es un protocolo;
VPN es la solución que puede
construirse con IPsec, TLS u otras
tecnologías.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051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Georgia"/>
              </a:rPr>
              <a:t>Tipos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95160" y="1508760"/>
            <a:ext cx="502920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9516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82879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Acceso remoto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24027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Un usuario a la red institucional.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269747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95160" y="28346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8891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Sitio a sitio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20039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Dos redes completas conectadas.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365759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95160" y="379475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4903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Basada en IPsec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6051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Opera en capa 3.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461771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95160" y="47548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091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Basada en TLS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2063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Opera en capas superiores.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B0F14"/>
                </a:solidFill>
                <a:latin typeface="Georgia"/>
              </a:rPr>
              <a:t>TLS, el protocolo detrás de 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Transport Layer Security · capa 4–7 · RFC 8446 · TLS 1.3 recomendado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423160"/>
            <a:ext cx="0" cy="365760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423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0F14"/>
                </a:solidFill>
                <a:latin typeface="Georgia"/>
              </a:rPr>
              <a:t>IPsec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capa 3 ·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87B7B"/>
                </a:solidFill>
                <a:latin typeface="Georgia"/>
              </a:rPr>
              <a:t>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capa 4–7 · aplicación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QUÉ PROTEGE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Cualquier tráfico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Conexiones de aplicaciones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4069080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096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CIFRADO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ESP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708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Nativo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782312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8097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USO TÍPICO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8406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VPN sitio a sitio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840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HTTPS, correo, web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495544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5229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AUTENTICACIÓN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972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IKEv2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7972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Certificados digitales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08776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-914400"/>
            <a:ext cx="5486400" cy="5486400"/>
          </a:xfrm>
          <a:prstGeom prst="triangle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058400" y="2743200"/>
            <a:ext cx="3657600" cy="3657600"/>
          </a:xfrm>
          <a:prstGeom prst="triangle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S  E  C  C  I  Ó  N     0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Ataques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E83B1E"/>
                </a:solidFill>
                <a:latin typeface="Georgia"/>
              </a:rPr>
              <a:t>en 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Spoofing · Sniffing · DDoS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Cómo operan y qué consecuencias generan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Suplantar una identidad o un dato para aparentar ser otro.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4937760" cy="237744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0F14"/>
                </a:solidFill>
                <a:latin typeface="Georgia"/>
              </a:rPr>
              <a:t>IP spoofing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Falsifica la dirección IP de origen. Base de ataques de amplificación y evasión de controles.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.0" y="2834640"/>
            <a:ext cx="1640738.333333333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0" y="297180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16407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IP ↔ MAC en red local.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0098.333333333" y="2834640"/>
            <a:ext cx="1640738.333333333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0098" y="297180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0098" y="338328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0098" y="3931920"/>
            <a:ext cx="16407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Respuesta falsa, redirección.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73716.666666666" y="2834640"/>
            <a:ext cx="1640738.333333334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73716" y="297180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3716" y="338328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3716" y="3931920"/>
            <a:ext cx="16407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Remitente falsificado.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48640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MITIGACIÓN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6235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Validación de origen · ACL · filtrado ingreso/salida · uRPF · autenticación fuerte · Dynamic ARP Inspection.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Sniffing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Capturar y analizar tráfico. No siempre es ataque: el administrador lo hace con autorización. Es ataque cuando se intercepta sin permiso.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611880"/>
            <a:ext cx="0" cy="777240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5156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429000"/>
            <a:ext cx="594360" cy="36576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pkt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3429000"/>
            <a:ext cx="594360" cy="36576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pkt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77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3B1E"/>
                </a:solidFill>
                <a:latin typeface="Arial"/>
              </a:rPr>
              <a:t>capturado por atacante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E83B1E"/>
                </a:solidFill>
                <a:latin typeface="Georgia"/>
              </a:rP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Georgia"/>
              </a:rPr>
              <a:t>Qué se captura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2971800"/>
            <a:ext cx="301752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Contraseñas sin cifrar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566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Cookies y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977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977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Correos sin proteger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389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Consultas DNS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80059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80059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Metadatos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5852160"/>
            <a:ext cx="10637215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HTTPS · SSH en vez de Telnet · SFTP en vez de FTP · VPN en redes no confiables · segmentación · MFA.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DDoS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Distributed Denial of Service — la disponibilidad como objetivo.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3931920"/>
            <a:ext cx="1188720" cy="82296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393192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servidor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074920" y="425196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4930033" y="4886749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4524070" y="539581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3937437" y="5678318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3286323" y="5678318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2699690" y="539581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2293727" y="4886749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2148840" y="425196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2293727" y="3617171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2699690" y="310811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3286323" y="2825602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3937437" y="2825602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4524070" y="310811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4930033" y="3617171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202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0B0F14"/>
                </a:solidFill>
                <a:latin typeface="Georgia"/>
              </a:rPr>
              <a:t>Tres vectores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377440"/>
            <a:ext cx="59436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Volumétrico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651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Satura el ancho de banda con grandes volúmenes de tráfico.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38328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8076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De protocolo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520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Agota recursos de red o servidor con conexiones incompletas.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425196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Capa de aplicación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3891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Sobrecarga la app con solicitudes aparentemente legítimas.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512064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" y="585216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989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MITIGACIÓN: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anti-DDoS · CDN · rate limiting · firewall · IPS · monitoreo · plan de respuesta · coordinación con el ISP.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S  E  C  C  I  Ó  N     0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Protección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B88A2E"/>
                </a:solidFill>
                <a:latin typeface="Georgia"/>
              </a:rPr>
              <a:t>y respuesta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Segmentación · filtrado · mínimo privilegio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Controles que reducen el riesgo y limitan el impacto.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Segmentación de redes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A8880"/>
                </a:solidFill>
                <a:latin typeface="Arial"/>
              </a:rPr>
              <a:t>Dividir la red en zonas con diferente nivel de confianza. Base del modelo Zero Trust: no confiar en nada, verificar todo.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1417320" cy="1188720"/>
          </a:xfrm>
          <a:prstGeom prst="rect">
            <a:avLst/>
          </a:prstGeom>
          <a:solidFill>
            <a:srgbClr val="8A8880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público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portal · correo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Servidores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web · BD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Académica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estudiantes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Administrativa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nómina · finanzas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Invitados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visitantes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cámaras · sensores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98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57200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BENEFICIOS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Limita movimiento lateral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Una intrusión no se propaga.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6543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Reduce impacto de malware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6543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Contención por segmento.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Facilita monitoreo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847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Tráfico por zona, más visible.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5151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Aplica mínimo privilegio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5151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Cada zona con sus reglas.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Filtrado de tráfico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Permitir, bloquear o inspeccionar según reglas: IP, puerto, protocolo, usuario, aplicación, horario, reputación, comportamiento.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4114800" cy="6400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Perímetro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Firewall · ACL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4114800" cy="6400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Inspección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657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IDS · IPS · WAF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4114800" cy="640080"/>
          </a:xfrm>
          <a:prstGeom prst="rect">
            <a:avLst/>
          </a:prstGeom>
          <a:noFill/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8A2E"/>
                </a:solidFill>
                <a:latin typeface="Georgia"/>
              </a:rPr>
              <a:t>Acceso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572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8A2E"/>
                </a:solidFill>
                <a:latin typeface="Arial"/>
              </a:rPr>
              <a:t>NAC · SIEM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383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E6268"/>
                </a:solidFill>
                <a:latin typeface="Georgia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297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E6268"/>
                </a:solidFill>
                <a:latin typeface="Georgia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Herramientas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2743200"/>
            <a:ext cx="502920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2926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Controla tráfico entre redes.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ACL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Reglas en routers y switches.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Detecta intrusiones (alerta).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Previene intrusiones (bloquea).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Protege apps web y APIs.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NAC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Controla quién se conecta.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SIEM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Centraliza y correlaciona registros.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Plan de protección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0" b="0" i="1">
                <a:solidFill>
                  <a:srgbClr val="DDD6C5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B88A2E"/>
                </a:solidFill>
                <a:latin typeface="Georgia"/>
              </a:rPr>
              <a:t>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920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90195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Clasificar activos e información crítica.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66360" y="2249424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66360" y="23408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2257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Segmentar la red por función y criticidad.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2670048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6360" y="27614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7432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Firewall y ACL: denegar por defecto.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090672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66360" y="31821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16382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VPN + MFA para acceso remoto.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60" y="3511296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36027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58444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TLS actualizado en servicios web.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3931920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60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0050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IPsec entre sedes.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6360" y="4352544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44439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42569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Equipos y sistemas actualizados.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6360" y="4773168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66360" y="4864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846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Monitoreo con IDS, IPS y SIEM.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66360" y="5193792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66360" y="5285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52669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Plan de respuesta a incidentes.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5614416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66360" y="57058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568756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Ciclo PHVA continuo.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43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88A2E"/>
                </a:solidFill>
                <a:latin typeface="Georgia"/>
              </a:rPr>
              <a:t>Mínimo privilegio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263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Cada quien, solo lo que necesita.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3200400"/>
            <a:ext cx="3657600" cy="36576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C  I  E  R  R 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La seguridad IP no depende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B88A2E"/>
                </a:solidFill>
                <a:latin typeface="Georgia"/>
              </a:rPr>
              <a:t>de una sola tecnología.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291840"/>
            <a:ext cx="2743200" cy="0"/>
          </a:xfrm>
          <a:prstGeom prst="line">
            <a:avLst/>
          </a:prstGeom>
          <a:ln w="15875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6118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IPsec, VPN y TLS protegen los datos en tránsito. La segmentación limita el alcance de una intrusión. El filtrado controla el tráfico. Y la gestión de riesgos —exigida por el marco colombiano y alineada con ISO 27001— hace que la seguridad sea un proceso continuo.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La meta no es una red invulnerable, sino reducir la probabilidad y el impacto.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88A2E"/>
                </a:solidFill>
                <a:latin typeface="Georgia"/>
              </a:rPr>
              <a:t>Gracias · Preguntas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28455" y="6126480"/>
            <a:ext cx="2286000" cy="36576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9128455" y="6126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