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Portada. Presentar al grupo (Joás, Luis, Jean, Johansen), anunciar el tema y la estructura.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8.xml"/><Relationship Id="rId4" Type="http://schemas.openxmlformats.org/officeDocument/2006/relationships/slide" Target="slide12.xml"/><Relationship Id="rId5" Type="http://schemas.openxmlformats.org/officeDocument/2006/relationships/slide" Target="slide1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-914400" y="5394960"/>
            <a:ext cx="13716000" cy="54864"/>
          </a:xfrm>
          <a:prstGeom prst="rect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698480" y="-1371600"/>
            <a:ext cx="4114800" cy="4114800"/>
          </a:xfrm>
          <a:prstGeom prst="ellipse">
            <a:avLst/>
          </a:prstGeom>
          <a:noFill/>
          <a:ln w="9525">
            <a:solidFill>
              <a:srgbClr val="1A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521440" y="548640"/>
            <a:ext cx="2286000" cy="2286000"/>
          </a:xfrm>
          <a:prstGeom prst="ellipse">
            <a:avLst/>
          </a:prstGeom>
          <a:noFill/>
          <a:ln w="9525">
            <a:solidFill>
              <a:srgbClr val="1A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5E6268"/>
                </a:solidFill>
                <a:latin typeface="Arial"/>
              </a:rPr>
              <a:t>G  U  Í  A     D  E     E  S  T  U  D  I  O     ·     C  I  B  E  R  S  E  G  U  R  I  D  A  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417320"/>
            <a:ext cx="822960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8800" b="0" i="0">
                <a:solidFill>
                  <a:srgbClr val="FFFFFF"/>
                </a:solidFill>
                <a:latin typeface="Georgia"/>
              </a:rPr>
              <a:t>Seguridad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27432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</a:pPr>
            <a:r>
              <a:rPr sz="8800" b="0" i="1">
                <a:solidFill>
                  <a:srgbClr val="E83B1E"/>
                </a:solidFill>
                <a:latin typeface="Georgia"/>
              </a:rPr>
              <a:t>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63240" y="3063240"/>
            <a:ext cx="5486400" cy="1280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200" b="0" i="1">
                <a:solidFill>
                  <a:srgbClr val="F4F1EA"/>
                </a:solidFill>
                <a:latin typeface="Georgia"/>
              </a:rPr>
              <a:t>Protocolos, ataques
y controles en red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5440680"/>
            <a:ext cx="5029200" cy="0"/>
          </a:xfrm>
          <a:prstGeom prst="line">
            <a:avLst/>
          </a:prstGeom>
          <a:ln w="9525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7240" y="56235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5E6268"/>
                </a:solidFill>
                <a:latin typeface="Arial"/>
              </a:rPr>
              <a:t>EXPOSICIÓN GRUPAL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9788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Joás Alvarez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Luis Miranda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Jean Amaya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Johansen Chapman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42855" y="5029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400" b="0" i="1">
                <a:solidFill>
                  <a:srgbClr val="5E6268"/>
                </a:solidFill>
                <a:latin typeface="Georgia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77240" y="548640"/>
            <a:ext cx="0" cy="5760720"/>
          </a:xfrm>
          <a:prstGeom prst="line">
            <a:avLst/>
          </a:prstGeom>
          <a:ln w="9525">
            <a:solidFill>
              <a:srgbClr val="0B0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10058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Í  N  D  I  C  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0">
                <a:solidFill>
                  <a:srgbClr val="0B0F14"/>
                </a:solidFill>
                <a:latin typeface="Georgia"/>
              </a:rPr>
              <a:t>Cuatro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74519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0B0F14"/>
                </a:solidFill>
                <a:latin typeface="Georgia"/>
              </a:rPr>
              <a:t>movimientos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632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Haz clic en cualquier fila para saltar a la sección.</a:t>
            </a:r>
          </a:p>
        </p:txBody>
      </p:sp>
      <p:sp>
        <p:nvSpPr>
          <p:cNvPr id="8" name="Rectangle 7">
            <a:hlinkClick action="ppaction://hlinksldjump" r:id="rId2"/>
          </p:cNvPr>
          <p:cNvSpPr/>
          <p:nvPr/>
        </p:nvSpPr>
        <p:spPr>
          <a:xfrm>
            <a:off x="6446520" y="1051560"/>
            <a:ext cx="54864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00584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E83B1E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8120" y="10972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Fundamentos y marco normativo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8120" y="155448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Qué protegemos y bajo qué normas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141732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2200" b="0" i="0">
                <a:solidFill>
                  <a:srgbClr val="E83B1E"/>
                </a:solidFill>
                <a:latin typeface="Georgia"/>
              </a:rPr>
              <a:t>→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46520" y="2148840"/>
            <a:ext cx="54864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hlinkClick action="ppaction://hlinksldjump" r:id="rId3"/>
          </p:cNvPr>
          <p:cNvSpPr/>
          <p:nvPr/>
        </p:nvSpPr>
        <p:spPr>
          <a:xfrm>
            <a:off x="6446520" y="2286000"/>
            <a:ext cx="54864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224028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187B7B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33172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Protocolos: IPsec, VPN, TLS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7889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Cómo se cifra y autentica la comunicación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265176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2200" b="0" i="0">
                <a:solidFill>
                  <a:srgbClr val="187B7B"/>
                </a:solidFill>
                <a:latin typeface="Georgia"/>
              </a:rPr>
              <a:t>→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46520" y="3383280"/>
            <a:ext cx="54864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hlinkClick action="ppaction://hlinksldjump" r:id="rId4"/>
          </p:cNvPr>
          <p:cNvSpPr/>
          <p:nvPr/>
        </p:nvSpPr>
        <p:spPr>
          <a:xfrm>
            <a:off x="6446520" y="3520440"/>
            <a:ext cx="54864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47472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E83B1E"/>
                </a:solidFill>
                <a:latin typeface="Georgia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18120" y="356616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Ataques: spoofing, sniffing, DDoS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18120" y="402336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Cómo operan y qué consecuencias generan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1440" y="388620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2200" b="0" i="0">
                <a:solidFill>
                  <a:srgbClr val="E83B1E"/>
                </a:solidFill>
                <a:latin typeface="Georgia"/>
              </a:rPr>
              <a:t>→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446520" y="4617720"/>
            <a:ext cx="54864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hlinkClick action="ppaction://hlinksldjump" r:id="rId5"/>
          </p:cNvPr>
          <p:cNvSpPr/>
          <p:nvPr/>
        </p:nvSpPr>
        <p:spPr>
          <a:xfrm>
            <a:off x="6446520" y="4754880"/>
            <a:ext cx="5486400" cy="10515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46520" y="4709160"/>
            <a:ext cx="118872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20" y="480060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Protección: segmentación, filtrado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8120" y="525780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Controles, mínimo privilegio y cierre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521440" y="5120640"/>
            <a:ext cx="5486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2200" b="0" i="0">
                <a:solidFill>
                  <a:srgbClr val="B88A2E"/>
                </a:solidFill>
                <a:latin typeface="Georgia"/>
              </a:rPr>
              <a:t>→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46520" y="5852160"/>
            <a:ext cx="54864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365760" y="365760"/>
            <a:ext cx="7315200" cy="594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30000" b="0" i="1">
                <a:solidFill>
                  <a:srgbClr val="1A2028"/>
                </a:solidFill>
                <a:latin typeface="Georgia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S  E  C  C  I  Ó  N     0 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Fundamentos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1">
                <a:solidFill>
                  <a:srgbClr val="FFFFFF"/>
                </a:solidFill>
                <a:latin typeface="Georgia"/>
              </a:rPr>
              <a:t>y marco normativo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343400"/>
            <a:ext cx="2011680" cy="0"/>
          </a:xfrm>
          <a:prstGeom prst="line">
            <a:avLst/>
          </a:prstGeom>
          <a:ln w="15875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572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Qué se protege, por qué y bajo qué normas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MSPI · Ley 1581 · ISO 27001 · PHVA</a:t>
            </a:r>
          </a:p>
        </p:txBody>
      </p:sp>
      <p:sp>
        <p:nvSpPr>
          <p:cNvPr id="10" name="btn_volver">
            <a:hlinkClick action="ppaction://hlinksldjump" r:id="rId2"/>
          </p:cNvPr>
          <p:cNvSpPr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tn_volver_txt"/>
          <p:cNvSpPr txBox="1"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1     ·     F  U  N  D  A  M  E  N  T  O  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77240" y="77724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18872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F14"/>
                </a:solidFill>
                <a:latin typeface="Georgia"/>
              </a:rPr>
              <a:t>Proteger la información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96596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1">
                <a:solidFill>
                  <a:srgbClr val="E83B1E"/>
                </a:solidFill>
                <a:latin typeface="Georgia"/>
              </a:rPr>
              <a:t>que viaja por redes 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10896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880"/>
                </a:solidFill>
                <a:latin typeface="Arial"/>
              </a:rPr>
              <a:t>IPv4 · IPv6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603504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0B0F14"/>
                </a:solidFill>
                <a:latin typeface="Arial"/>
              </a:rPr>
              <a:t>La seguridad IP reúne técnicas, políticas y controles para que la información que viaja por la red no sea leída, alterada ni interrumpida por terceros no autorizados.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75319" y="3200400"/>
            <a:ext cx="0" cy="219456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549640" y="3246120"/>
            <a:ext cx="283464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187B7B"/>
                </a:solidFill>
                <a:latin typeface="Georgia"/>
              </a:rPr>
              <a:t>«La seguridad no es un producto que se compra; es un proceso que se gestiona.»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576072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589788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B0F14"/>
                </a:solidFill>
                <a:latin typeface="Georgia"/>
              </a:rPr>
              <a:t>Capa 3–7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5897880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B0F14"/>
                </a:solidFill>
                <a:latin typeface="Georgia"/>
              </a:rPr>
              <a:t>IPv4 e IPv6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5897880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0B0F14"/>
                </a:solidFill>
                <a:latin typeface="Georgia"/>
              </a:rPr>
              <a:t>RFC · ISO · MinTIC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1     ·     F  U  N  D  A  M  E  N  T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14400"/>
            <a:ext cx="5486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Georgia"/>
              </a:rPr>
              <a:t>Lo que se protege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59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E83B1E"/>
                </a:solidFill>
                <a:latin typeface="Georgia"/>
              </a:rPr>
              <a:t>C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83080" y="1920239"/>
            <a:ext cx="0" cy="685800"/>
          </a:xfrm>
          <a:prstGeom prst="line">
            <a:avLst/>
          </a:prstGeom>
          <a:ln w="9525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057400" y="189280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</a:rPr>
              <a:t>Confidencialidad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80760" y="201167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Solo quien debe leer, lee.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057400" y="2651759"/>
            <a:ext cx="950976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788919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187B7B"/>
                </a:solidFill>
                <a:latin typeface="Georgia"/>
              </a:rPr>
              <a:t>I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783080" y="2971799"/>
            <a:ext cx="0" cy="685800"/>
          </a:xfrm>
          <a:prstGeom prst="line">
            <a:avLst/>
          </a:prstGeom>
          <a:ln w="9525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057400" y="294436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</a:rPr>
              <a:t>Integridad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306323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Nadie altera el dato en tránsito.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057400" y="3703319"/>
            <a:ext cx="950976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3840479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B88A2E"/>
                </a:solidFill>
                <a:latin typeface="Georgia"/>
              </a:rPr>
              <a:t>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83080" y="4023359"/>
            <a:ext cx="0" cy="685800"/>
          </a:xfrm>
          <a:prstGeom prst="line">
            <a:avLst/>
          </a:prstGeom>
          <a:ln w="9525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057400" y="399592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</a:rPr>
              <a:t>Disponibilidad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411479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El servicio permanece accesible.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057400" y="4754879"/>
            <a:ext cx="950976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77240" y="4892039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400" b="0" i="1">
                <a:solidFill>
                  <a:srgbClr val="FFFFFF"/>
                </a:solidFill>
                <a:latin typeface="Georgia"/>
              </a:rPr>
              <a:t>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783080" y="5074919"/>
            <a:ext cx="0" cy="685800"/>
          </a:xfrm>
          <a:prstGeom prst="line">
            <a:avLst/>
          </a:prstGeom>
          <a:ln w="9525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057400" y="5047487"/>
            <a:ext cx="38404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FFFFFF"/>
                </a:solidFill>
                <a:latin typeface="Georgia"/>
              </a:rPr>
              <a:t>Autenticidad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516635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Se sabe quién se comunica con quién.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057400" y="5806439"/>
            <a:ext cx="950976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1     ·     F  U  N  D  A  M  E  N  T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0B0F14"/>
                </a:solidFill>
                <a:latin typeface="Georgia"/>
              </a:rPr>
              <a:t>La cadena del riesgo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.0" y="2377440"/>
            <a:ext cx="1871411.0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Activo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Lo que tiene valor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2931" y="2286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8691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968691.0" y="2377440"/>
            <a:ext cx="1871411.0" cy="0"/>
          </a:xfrm>
          <a:prstGeom prst="line">
            <a:avLst/>
          </a:prstGeom>
          <a:ln w="12700">
            <a:solidFill>
              <a:srgbClr val="0B0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968691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Amenaza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68691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Quién o qué daña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94382" y="2286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0142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160142.0" y="2377440"/>
            <a:ext cx="1871411.0" cy="0"/>
          </a:xfrm>
          <a:prstGeom prst="line">
            <a:avLst/>
          </a:prstGeom>
          <a:ln w="12700">
            <a:solidFill>
              <a:srgbClr val="0B0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60142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Vulnerabilidad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0142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Debilidad explotable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85833" y="2286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51593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51593.0" y="2377440"/>
            <a:ext cx="1871411.0" cy="0"/>
          </a:xfrm>
          <a:prstGeom prst="line">
            <a:avLst/>
          </a:prstGeom>
          <a:ln w="12700">
            <a:solidFill>
              <a:srgbClr val="0B0F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51593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Riesgo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51593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Probabilidad × impacto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77284" y="2286000"/>
            <a:ext cx="3200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43044" y="1965960"/>
            <a:ext cx="54864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8A8880"/>
                </a:solidFill>
                <a:latin typeface="Georgia"/>
              </a:rPr>
              <a:t>05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9543044.0" y="2377440"/>
            <a:ext cx="1871411.0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543044" y="2468880"/>
            <a:ext cx="1871411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Incidente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43044" y="2880360"/>
            <a:ext cx="1871411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Compromiso real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240" y="466344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77240" y="484632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Ciclo PHVA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5349240"/>
            <a:ext cx="6400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Enfoque del MSPI colombiano — la seguridad se gestiona en ciclo continuo.</a:t>
            </a:r>
          </a:p>
        </p:txBody>
      </p:sp>
      <p:sp>
        <p:nvSpPr>
          <p:cNvPr id="32" name="Oval 31"/>
          <p:cNvSpPr/>
          <p:nvPr/>
        </p:nvSpPr>
        <p:spPr>
          <a:xfrm>
            <a:off x="8275319" y="4937760"/>
            <a:ext cx="685800" cy="685800"/>
          </a:xfrm>
          <a:prstGeom prst="ellipse">
            <a:avLst/>
          </a:prstGeom>
          <a:noFill/>
          <a:ln w="9525">
            <a:solidFill>
              <a:srgbClr val="18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75319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59" y="57607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Planear</a:t>
            </a:r>
          </a:p>
        </p:txBody>
      </p:sp>
      <p:sp>
        <p:nvSpPr>
          <p:cNvPr id="35" name="Oval 34"/>
          <p:cNvSpPr/>
          <p:nvPr/>
        </p:nvSpPr>
        <p:spPr>
          <a:xfrm>
            <a:off x="9235439" y="4937760"/>
            <a:ext cx="685800" cy="685800"/>
          </a:xfrm>
          <a:prstGeom prst="ellipse">
            <a:avLst/>
          </a:prstGeom>
          <a:noFill/>
          <a:ln w="9525">
            <a:solidFill>
              <a:srgbClr val="18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39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57607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Hacer</a:t>
            </a:r>
          </a:p>
        </p:txBody>
      </p:sp>
      <p:sp>
        <p:nvSpPr>
          <p:cNvPr id="38" name="Oval 37"/>
          <p:cNvSpPr/>
          <p:nvPr/>
        </p:nvSpPr>
        <p:spPr>
          <a:xfrm>
            <a:off x="10195559" y="4937760"/>
            <a:ext cx="685800" cy="685800"/>
          </a:xfrm>
          <a:prstGeom prst="ellipse">
            <a:avLst/>
          </a:prstGeom>
          <a:noFill/>
          <a:ln w="9525">
            <a:solidFill>
              <a:srgbClr val="18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195559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V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399" y="57607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Verificar</a:t>
            </a:r>
          </a:p>
        </p:txBody>
      </p:sp>
      <p:sp>
        <p:nvSpPr>
          <p:cNvPr id="41" name="Oval 40"/>
          <p:cNvSpPr/>
          <p:nvPr/>
        </p:nvSpPr>
        <p:spPr>
          <a:xfrm>
            <a:off x="11155679" y="4937760"/>
            <a:ext cx="685800" cy="685800"/>
          </a:xfrm>
          <a:prstGeom prst="ellipse">
            <a:avLst/>
          </a:prstGeom>
          <a:noFill/>
          <a:ln w="9525">
            <a:solidFill>
              <a:srgbClr val="187B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155679" y="4937760"/>
            <a:ext cx="6858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200" b="0" i="1">
                <a:solidFill>
                  <a:srgbClr val="187B7B"/>
                </a:solidFill>
                <a:latin typeface="Georgia"/>
              </a:rPr>
              <a:t>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19" y="5760720"/>
            <a:ext cx="9601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Actuar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1     ·     F  U  N  D  A  M  E  N  T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3152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Georgia"/>
              </a:rPr>
              <a:t>Marco normativo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28800" y="1874519"/>
            <a:ext cx="0" cy="420624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87451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3B1E"/>
                </a:solidFill>
                <a:latin typeface="Georgia"/>
              </a:rPr>
              <a:t>2021</a:t>
            </a:r>
          </a:p>
        </p:txBody>
      </p:sp>
      <p:sp>
        <p:nvSpPr>
          <p:cNvPr id="7" name="Oval 6"/>
          <p:cNvSpPr/>
          <p:nvPr/>
        </p:nvSpPr>
        <p:spPr>
          <a:xfrm>
            <a:off x="1737360" y="1947671"/>
            <a:ext cx="201168" cy="201168"/>
          </a:xfrm>
          <a:prstGeom prst="ellips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856231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Resolución 500 de 2021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80760" y="1920239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MinTIC — lineamientos del MSPI: riesgos, controles e incidentes.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15767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Georgia"/>
              </a:rPr>
              <a:t>2012</a:t>
            </a:r>
          </a:p>
        </p:txBody>
      </p:sp>
      <p:sp>
        <p:nvSpPr>
          <p:cNvPr id="11" name="Oval 10"/>
          <p:cNvSpPr/>
          <p:nvPr/>
        </p:nvSpPr>
        <p:spPr>
          <a:xfrm>
            <a:off x="1737360" y="2788919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2697479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Ley 1581 de 2012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60" y="2761487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Protección de datos personales en Colombia.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557015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Georgia"/>
              </a:rPr>
              <a:t>2022</a:t>
            </a:r>
          </a:p>
        </p:txBody>
      </p:sp>
      <p:sp>
        <p:nvSpPr>
          <p:cNvPr id="15" name="Oval 14"/>
          <p:cNvSpPr/>
          <p:nvPr/>
        </p:nvSpPr>
        <p:spPr>
          <a:xfrm>
            <a:off x="1737360" y="3630167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94560" y="3538727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Decreto 338 de 2022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602735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Gobernanza, riesgo e incidentes en entidades públicas.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39826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FFFFFF"/>
                </a:solidFill>
                <a:latin typeface="Georgia"/>
              </a:rPr>
              <a:t>2022</a:t>
            </a:r>
          </a:p>
        </p:txBody>
      </p:sp>
      <p:sp>
        <p:nvSpPr>
          <p:cNvPr id="19" name="Oval 18"/>
          <p:cNvSpPr/>
          <p:nvPr/>
        </p:nvSpPr>
        <p:spPr>
          <a:xfrm>
            <a:off x="1737360" y="4471415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194560" y="4379975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ISO/IEC 27001:2022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80760" y="4443983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Sistema de Gestión de Seguridad de la Información (SGSI).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239511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E83B1E"/>
                </a:solidFill>
                <a:latin typeface="Georgia"/>
              </a:rPr>
              <a:t>2009</a:t>
            </a:r>
          </a:p>
        </p:txBody>
      </p:sp>
      <p:sp>
        <p:nvSpPr>
          <p:cNvPr id="23" name="Oval 22"/>
          <p:cNvSpPr/>
          <p:nvPr/>
        </p:nvSpPr>
        <p:spPr>
          <a:xfrm>
            <a:off x="1737360" y="5312663"/>
            <a:ext cx="201168" cy="201168"/>
          </a:xfrm>
          <a:prstGeom prst="ellips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194560" y="5221223"/>
            <a:ext cx="36576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  <a:latin typeface="Georgia"/>
              </a:rPr>
              <a:t>Ley 1273 de 2009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5285231"/>
            <a:ext cx="5486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Tipifica delitos informáticos en Colombia.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33695" y="365760"/>
            <a:ext cx="7315200" cy="594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15000"/>
              </a:lnSpc>
            </a:pPr>
            <a:r>
              <a:rPr sz="30000" b="0" i="1">
                <a:solidFill>
                  <a:srgbClr val="1A2028"/>
                </a:solidFill>
                <a:latin typeface="Georgia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13655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Protocolos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13655" y="31089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5800" b="0" i="1">
                <a:solidFill>
                  <a:srgbClr val="187B7B"/>
                </a:solidFill>
                <a:latin typeface="Georgia"/>
              </a:rPr>
              <a:t>IPsec · VPN · TLS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02775" y="4343400"/>
            <a:ext cx="2011680" cy="0"/>
          </a:xfrm>
          <a:prstGeom prst="line">
            <a:avLst/>
          </a:prstGeom>
          <a:ln w="15875">
            <a:solidFill>
              <a:srgbClr val="187B7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184855" y="457200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— Cómo se cifra y autentica la comunicación entre extremos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84855" y="4892040"/>
            <a:ext cx="8229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RFC 4301 · RFC 8446 · IKEv2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71255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7B7B"/>
                </a:solidFill>
                <a:latin typeface="Arial"/>
              </a:rPr>
              <a:t>S  E  C  C  I  Ó  N     0  2</a:t>
            </a:r>
          </a:p>
        </p:txBody>
      </p:sp>
      <p:sp>
        <p:nvSpPr>
          <p:cNvPr id="10" name="btn_volver">
            <a:hlinkClick action="ppaction://hlinksldjump" r:id="rId2"/>
          </p:cNvPr>
          <p:cNvSpPr/>
          <p:nvPr/>
        </p:nvSpPr>
        <p:spPr>
          <a:xfrm>
            <a:off x="777240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7B7B"/>
                </a:solidFill>
                <a:latin typeface="Arial"/>
              </a:rPr>
              <a:t>0  2     ·     P  R  O  T  O  C  O  L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4572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F14"/>
                </a:solidFill>
                <a:latin typeface="Georgia"/>
              </a:rPr>
              <a:t>IPsec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87B7B"/>
                </a:solidFill>
                <a:latin typeface="Georgia"/>
              </a:rPr>
              <a:t>Internet Protocol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691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RFC 4301 · IETF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880"/>
                </a:solidFill>
                <a:latin typeface="Arial"/>
              </a:rPr>
              <a:t>Paquete original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651760"/>
            <a:ext cx="2926080" cy="640080"/>
          </a:xfrm>
          <a:prstGeom prst="rect">
            <a:avLst/>
          </a:prstGeom>
          <a:noFill/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51760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IP  |  Datos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606040"/>
            <a:ext cx="8229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3200" b="0" i="0">
                <a:solidFill>
                  <a:srgbClr val="187B7B"/>
                </a:solidFill>
                <a:latin typeface="Georgia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331720"/>
            <a:ext cx="68580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8A8880"/>
                </a:solidFill>
                <a:latin typeface="Arial"/>
              </a:rPr>
              <a:t>Paquete protegido por IPsec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2651760"/>
            <a:ext cx="1371600" cy="640080"/>
          </a:xfrm>
          <a:prstGeom prst="rect">
            <a:avLst/>
          </a:prstGeom>
          <a:noFill/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6517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B0F14"/>
                </a:solidFill>
                <a:latin typeface="Arial"/>
              </a:rPr>
              <a:t>IP nuevo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651760"/>
            <a:ext cx="1371600" cy="640080"/>
          </a:xfrm>
          <a:prstGeom prst="rect">
            <a:avLst/>
          </a:prstGeom>
          <a:solidFill>
            <a:srgbClr val="18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651760"/>
            <a:ext cx="13716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ESP hdr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651760"/>
            <a:ext cx="2377440" cy="640080"/>
          </a:xfrm>
          <a:prstGeom prst="rect">
            <a:avLst/>
          </a:prstGeom>
          <a:noFill/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35240" y="2651760"/>
            <a:ext cx="237744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0B0F14"/>
                </a:solidFill>
                <a:latin typeface="Arial"/>
              </a:rPr>
              <a:t>Datos cifrados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0" y="2651760"/>
            <a:ext cx="1280160" cy="640080"/>
          </a:xfrm>
          <a:prstGeom prst="rect">
            <a:avLst/>
          </a:prstGeom>
          <a:solidFill>
            <a:srgbClr val="18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0" y="2651760"/>
            <a:ext cx="128016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Arial"/>
              </a:rPr>
              <a:t>ESP auth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420624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43891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AH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00600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Autentica e integra. No cifra.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6543" y="43891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ESP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6543" y="4800600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Cifra, autentica e integra. El más usado.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5847" y="43891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IKEv2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5847" y="4800600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Negocia claves y parámetros de seguridad.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55151" y="43891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0F14"/>
                </a:solidFill>
                <a:latin typeface="Georgia"/>
              </a:rPr>
              <a:t>Modo túnel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5151" y="4800600"/>
            <a:ext cx="2384983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Encapsula el paquete IP completo. VPN sitio a sitio.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7B7B"/>
                </a:solidFill>
                <a:latin typeface="Arial"/>
              </a:rPr>
              <a:t>0  2     ·     P  R  O  T  O  C  O  L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FFFFFF"/>
                </a:solidFill>
                <a:latin typeface="Georgia"/>
              </a:rPr>
              <a:t>VPN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187B7B"/>
                </a:solidFill>
                <a:latin typeface="Georgia"/>
              </a:rPr>
              <a:t>Red Privada Virtual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331720"/>
            <a:ext cx="0" cy="292608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514600"/>
            <a:ext cx="45720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Un canal lógico privado
sobre una red pública.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45720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No es IPsec. IPsec es un protocolo;
VPN es la solución que puede
construirse con IPsec, TLS u otras
tecnologías.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051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FFFFFF"/>
                </a:solidFill>
                <a:latin typeface="Georgia"/>
              </a:rPr>
              <a:t>Tipos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995160" y="1508760"/>
            <a:ext cx="5029200" cy="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995160" y="187451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87B7B"/>
                </a:solidFill>
                <a:latin typeface="Georgia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82879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Acceso remoto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224027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Un usuario a la red institucional.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995160" y="2697479"/>
            <a:ext cx="502920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995160" y="283463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87B7B"/>
                </a:solidFill>
                <a:latin typeface="Georgia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0" y="278891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Sitio a sitio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60" y="320039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Dos redes completas conectadas.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95160" y="3657599"/>
            <a:ext cx="502920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995160" y="379475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87B7B"/>
                </a:solidFill>
                <a:latin typeface="Georgia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0" y="374903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Basada en IPsec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0" y="416051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Opera en capa 3.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60" y="4617719"/>
            <a:ext cx="5029200" cy="0"/>
          </a:xfrm>
          <a:prstGeom prst="line">
            <a:avLst/>
          </a:prstGeom>
          <a:ln w="6350">
            <a:solidFill>
              <a:srgbClr val="1A2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995160" y="4754879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187B7B"/>
                </a:solidFill>
                <a:latin typeface="Georgia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0" y="4709159"/>
            <a:ext cx="3200400" cy="411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0">
                <a:solidFill>
                  <a:srgbClr val="FFFFFF"/>
                </a:solidFill>
                <a:latin typeface="Georgia"/>
              </a:rPr>
              <a:t>Basada en TLS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80960" y="5120639"/>
            <a:ext cx="4114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Opera en capas superiores.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87B7B"/>
                </a:solidFill>
                <a:latin typeface="Arial"/>
              </a:rPr>
              <a:t>0  2     ·     P  R  O  T  O  C  O  L  O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200" b="0" i="0">
                <a:solidFill>
                  <a:srgbClr val="0B0F14"/>
                </a:solidFill>
                <a:latin typeface="Georgia"/>
              </a:rPr>
              <a:t>TLS, el protocolo detrás de HTTPS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Transport Layer Security · capa 4–7 · RFC 8446 · TLS 1.3 recomendado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943600" y="2423160"/>
            <a:ext cx="0" cy="365760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2423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0F14"/>
                </a:solidFill>
                <a:latin typeface="Georgia"/>
              </a:rPr>
              <a:t>IPsec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880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capa 3 · 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4231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187B7B"/>
                </a:solidFill>
                <a:latin typeface="Georgia"/>
              </a:rPr>
              <a:t>TLS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288036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8A8880"/>
                </a:solidFill>
                <a:latin typeface="Arial"/>
              </a:rPr>
              <a:t>capa 4–7 · aplicación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832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QUÉ PROTEGE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Cualquier tráfico IP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365760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Conexiones de aplicaciones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4069080"/>
            <a:ext cx="10515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4096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CIFRADO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ESP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4370832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Nativo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782312"/>
            <a:ext cx="10515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809744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USO TÍPICO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08406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VPN sitio a sitio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5084064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HTTPS, correo, web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495544"/>
            <a:ext cx="10515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522976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880"/>
                </a:solidFill>
                <a:latin typeface="Arial"/>
              </a:rPr>
              <a:t>AUTENTICACIÓN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79729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IKEv2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797296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Certificados digitales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777240" y="6208776"/>
            <a:ext cx="10515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8686800" y="-914400"/>
            <a:ext cx="5486400" cy="5486400"/>
          </a:xfrm>
          <a:prstGeom prst="triangle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Isosceles Triangle 3"/>
          <p:cNvSpPr/>
          <p:nvPr/>
        </p:nvSpPr>
        <p:spPr>
          <a:xfrm>
            <a:off x="10058400" y="2743200"/>
            <a:ext cx="3657600" cy="3657600"/>
          </a:xfrm>
          <a:prstGeom prst="triangle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-365760" y="365760"/>
            <a:ext cx="7315200" cy="594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30000" b="0" i="1">
                <a:solidFill>
                  <a:srgbClr val="1A2028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S  E  C  C  I  Ó  N     0 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Ataques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089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1">
                <a:solidFill>
                  <a:srgbClr val="E83B1E"/>
                </a:solidFill>
                <a:latin typeface="Georgia"/>
              </a:rPr>
              <a:t>en red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4343400"/>
            <a:ext cx="2011680" cy="0"/>
          </a:xfrm>
          <a:prstGeom prst="line">
            <a:avLst/>
          </a:prstGeom>
          <a:ln w="15875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4572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— Spoofing · Sniffing · DDoS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92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Cómo operan y qué consecuencias generan</a:t>
            </a:r>
          </a:p>
        </p:txBody>
      </p:sp>
      <p:sp>
        <p:nvSpPr>
          <p:cNvPr id="12" name="btn_volver">
            <a:hlinkClick action="ppaction://hlinksldjump" r:id="rId2"/>
          </p:cNvPr>
          <p:cNvSpPr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tn_volver_txt"/>
          <p:cNvSpPr txBox="1"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3     ·     A  T  A  Q  U  E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F14"/>
                </a:solidFill>
                <a:latin typeface="Georgia"/>
              </a:rPr>
              <a:t>Spoofing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83B1E"/>
                </a:solidFill>
                <a:latin typeface="Georgia"/>
              </a:rPr>
              <a:t>Suplantar una identidad o un dato para aparentar ser otro.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651760"/>
            <a:ext cx="4937760" cy="2468880"/>
          </a:xfrm>
          <a:prstGeom prst="rect">
            <a:avLst/>
          </a:prstGeom>
          <a:noFill/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880360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83B1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291840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0B0F14"/>
                </a:solidFill>
                <a:latin typeface="Georgia"/>
              </a:rPr>
              <a:t>IP spoofing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93192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Falsifica la dirección IP de origen. Base de ataques de amplificación y evasión de controles.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26480.0" y="2743200"/>
            <a:ext cx="1640738.333333333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126480" y="2880360"/>
            <a:ext cx="16407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3B1E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3291840"/>
            <a:ext cx="1640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0F14"/>
                </a:solidFill>
                <a:latin typeface="Georgia"/>
              </a:rPr>
              <a:t>ARP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3840480"/>
            <a:ext cx="164073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IP ↔ MAC en red local.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950098.333333333" y="2743200"/>
            <a:ext cx="1640738.333333333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950098" y="2880360"/>
            <a:ext cx="16407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3B1E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50098" y="3291840"/>
            <a:ext cx="1640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0F14"/>
                </a:solidFill>
                <a:latin typeface="Georgia"/>
              </a:rPr>
              <a:t>DNS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0098" y="3840480"/>
            <a:ext cx="164073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Respuesta falsa, redirección.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773716.666666666" y="2743200"/>
            <a:ext cx="1640738.333333334" cy="0"/>
          </a:xfrm>
          <a:prstGeom prst="line">
            <a:avLst/>
          </a:prstGeom>
          <a:ln w="12700">
            <a:solidFill>
              <a:srgbClr val="E83B1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73716" y="2880360"/>
            <a:ext cx="1640738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E83B1E"/>
                </a:solidFill>
                <a:latin typeface="Georgia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73716" y="3291840"/>
            <a:ext cx="164073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000" b="0" i="0">
                <a:solidFill>
                  <a:srgbClr val="0B0F14"/>
                </a:solidFill>
                <a:latin typeface="Georgia"/>
              </a:rPr>
              <a:t>Email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73716" y="3840480"/>
            <a:ext cx="1640738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Remitente falsificado.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7240" y="557784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57150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MITIGACIÓN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57150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0B0F14"/>
                </a:solidFill>
                <a:latin typeface="Arial"/>
              </a:rPr>
              <a:t>Validación de origen · ACL · filtrado ingreso/salida · uRPF · autenticación fuerte · Dynamic ARP Inspection.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3     ·     A  T  A  Q  U  E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FFFFFF"/>
                </a:solidFill>
                <a:latin typeface="Georgia"/>
              </a:rPr>
              <a:t>Sniffing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77724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Capturar y analizar tráfico. No siempre es ataque: el administrador lo hace con autorización. Es ataque cuando se intercepta sin permiso.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3611880"/>
            <a:ext cx="0" cy="777240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05156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0312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0312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429000"/>
            <a:ext cx="594360" cy="365760"/>
          </a:xfrm>
          <a:prstGeom prst="rect">
            <a:avLst/>
          </a:prstGeom>
          <a:solidFill>
            <a:srgbClr val="18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pkt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57800" y="3429000"/>
            <a:ext cx="594360" cy="365760"/>
          </a:xfrm>
          <a:prstGeom prst="rect">
            <a:avLst/>
          </a:prstGeom>
          <a:solidFill>
            <a:srgbClr val="187B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5780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FFFFFF"/>
                </a:solidFill>
                <a:latin typeface="Arial"/>
              </a:rPr>
              <a:t>pkt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0936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60920" y="3429000"/>
            <a:ext cx="594360" cy="365760"/>
          </a:xfrm>
          <a:prstGeom prst="rect">
            <a:avLst/>
          </a:prstGeom>
          <a:solidFill>
            <a:srgbClr val="1A2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342900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800" b="0" i="0">
                <a:solidFill>
                  <a:srgbClr val="5E6268"/>
                </a:solidFill>
                <a:latin typeface="Arial"/>
              </a:rPr>
              <a:t>pkt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0690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E83B1E"/>
                </a:solidFill>
                <a:latin typeface="Arial"/>
              </a:rPr>
              <a:t>capturado por atacante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0632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E83B1E"/>
                </a:solidFill>
                <a:latin typeface="Georgia"/>
              </a:rPr>
              <a:t>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606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FFFFFF"/>
                </a:solidFill>
                <a:latin typeface="Georgia"/>
              </a:rPr>
              <a:t>Qué se captura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89720" y="2971800"/>
            <a:ext cx="3017520" cy="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189720" y="3154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315468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Contraseñas sin cifrar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20" y="35661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09760" y="356616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Cookies y tokens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39776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39776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Correos sin proteger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4389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438912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Consultas DNS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89720" y="480059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E83B1E"/>
                </a:solidFill>
                <a:latin typeface="Arial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4800599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4F1EA"/>
                </a:solidFill>
                <a:latin typeface="Arial"/>
              </a:rPr>
              <a:t>Metadatos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77240" y="5669280"/>
            <a:ext cx="10637215" cy="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77240" y="580644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HTTPS · SSH en vez de Telnet · SFTP en vez de FTP · VPN en redes no confiables · segmentación · MFA.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E83B1E"/>
                </a:solidFill>
                <a:latin typeface="Arial"/>
              </a:rPr>
              <a:t>0  3     ·     A  T  A  Q  U  E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5486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4400" b="0" i="0">
                <a:solidFill>
                  <a:srgbClr val="0B0F14"/>
                </a:solidFill>
                <a:latin typeface="Georgia"/>
              </a:rPr>
              <a:t>DDoS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E83B1E"/>
                </a:solidFill>
                <a:latin typeface="Georgia"/>
              </a:rPr>
              <a:t>Distributed Denial of Service — la disponibilidad como objetivo.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3840480"/>
            <a:ext cx="1188720" cy="82296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0" y="3840480"/>
            <a:ext cx="118872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Arial"/>
              </a:rPr>
              <a:t>servidor</a:t>
            </a:r>
          </a:p>
        </p:txBody>
      </p:sp>
      <p:sp>
        <p:nvSpPr>
          <p:cNvPr id="8" name="Isosceles Triangle 7"/>
          <p:cNvSpPr/>
          <p:nvPr/>
        </p:nvSpPr>
        <p:spPr>
          <a:xfrm>
            <a:off x="5074920" y="416052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>
            <a:off x="4930033" y="4795309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Isosceles Triangle 9"/>
          <p:cNvSpPr/>
          <p:nvPr/>
        </p:nvSpPr>
        <p:spPr>
          <a:xfrm>
            <a:off x="4524070" y="530437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>
            <a:off x="3937437" y="5586878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Isosceles Triangle 11"/>
          <p:cNvSpPr/>
          <p:nvPr/>
        </p:nvSpPr>
        <p:spPr>
          <a:xfrm>
            <a:off x="3286323" y="5586878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Isosceles Triangle 12"/>
          <p:cNvSpPr/>
          <p:nvPr/>
        </p:nvSpPr>
        <p:spPr>
          <a:xfrm>
            <a:off x="2699690" y="530437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>
            <a:off x="2293727" y="4795309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2148840" y="416052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Isosceles Triangle 15"/>
          <p:cNvSpPr/>
          <p:nvPr/>
        </p:nvSpPr>
        <p:spPr>
          <a:xfrm>
            <a:off x="2293727" y="3525731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Isosceles Triangle 16"/>
          <p:cNvSpPr/>
          <p:nvPr/>
        </p:nvSpPr>
        <p:spPr>
          <a:xfrm>
            <a:off x="2699690" y="301667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Isosceles Triangle 17"/>
          <p:cNvSpPr/>
          <p:nvPr/>
        </p:nvSpPr>
        <p:spPr>
          <a:xfrm>
            <a:off x="3286323" y="2734162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>
            <a:off x="3937437" y="2734162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Isosceles Triangle 19"/>
          <p:cNvSpPr/>
          <p:nvPr/>
        </p:nvSpPr>
        <p:spPr>
          <a:xfrm>
            <a:off x="4524070" y="3016670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>
            <a:off x="4930033" y="3525731"/>
            <a:ext cx="256032" cy="256032"/>
          </a:xfrm>
          <a:prstGeom prst="triangle">
            <a:avLst/>
          </a:prstGeom>
          <a:solidFill>
            <a:srgbClr val="E83B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80760" y="1920240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0B0F14"/>
                </a:solidFill>
                <a:latin typeface="Georgia"/>
              </a:rPr>
              <a:t>Tres vectores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80760" y="2377440"/>
            <a:ext cx="5943600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26060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Volumétrico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6517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Satura el ancho de banda con grandes volúmenes de tráfico.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80760" y="3383280"/>
            <a:ext cx="5943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080760" y="35204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De protocolo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35661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Agota recursos de red o servidor con conexiones incompletas.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080760" y="4297680"/>
            <a:ext cx="5943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080760" y="44348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0B0F14"/>
                </a:solidFill>
                <a:latin typeface="Georgia"/>
              </a:rPr>
              <a:t>Capa de aplicación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4480560"/>
            <a:ext cx="310896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45000"/>
              </a:lnSpc>
            </a:pPr>
            <a:r>
              <a:rPr sz="1100" b="0" i="0">
                <a:solidFill>
                  <a:srgbClr val="8A8880"/>
                </a:solidFill>
                <a:latin typeface="Arial"/>
              </a:rPr>
              <a:t>Sobrecarga la app con solicitudes aparentemente legítimas.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080760" y="5212080"/>
            <a:ext cx="594360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777240" y="576072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5897880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MITIGACIÓN: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65960" y="58978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B0F14"/>
                </a:solidFill>
                <a:latin typeface="Arial"/>
              </a:rPr>
              <a:t>anti-DDoS · CDN · rate limiting · firewall · IPS · monitoreo · plan de respuesta · coordinación con el ISP.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365760" y="365760"/>
            <a:ext cx="7315200" cy="5943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30000" b="0" i="1">
                <a:solidFill>
                  <a:srgbClr val="1A2028"/>
                </a:solidFill>
                <a:latin typeface="Georgia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S  E  C  C  I  Ó  N     0 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945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0">
                <a:solidFill>
                  <a:srgbClr val="FFFFFF"/>
                </a:solidFill>
                <a:latin typeface="Georgia"/>
              </a:rPr>
              <a:t>Protección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10896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5800" b="0" i="1">
                <a:solidFill>
                  <a:srgbClr val="B88A2E"/>
                </a:solidFill>
                <a:latin typeface="Georgia"/>
              </a:rPr>
              <a:t>y respuesta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77240" y="4343400"/>
            <a:ext cx="2011680" cy="0"/>
          </a:xfrm>
          <a:prstGeom prst="line">
            <a:avLst/>
          </a:prstGeom>
          <a:ln w="15875">
            <a:solidFill>
              <a:srgbClr val="B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77240" y="457200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— Segmentación · filtrado · mínimo privilegio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920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5E6268"/>
                </a:solidFill>
                <a:latin typeface="Arial"/>
              </a:rPr>
              <a:t>Controles que reducen el riesgo y limitan el impacto.</a:t>
            </a:r>
          </a:p>
        </p:txBody>
      </p:sp>
      <p:sp>
        <p:nvSpPr>
          <p:cNvPr id="10" name="btn_volver">
            <a:hlinkClick action="ppaction://hlinksldjump" r:id="rId2"/>
          </p:cNvPr>
          <p:cNvSpPr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tn_volver_txt"/>
          <p:cNvSpPr txBox="1"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0  4     ·     P  R  O  T  E  C  C  I  Ó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0B0F14"/>
                </a:solidFill>
                <a:latin typeface="Georgia"/>
              </a:rPr>
              <a:t>Segmentación de redes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8A8880"/>
                </a:solidFill>
                <a:latin typeface="Arial"/>
              </a:rPr>
              <a:t>Dividir la red en zonas con diferente nivel de confianza. Base del modelo Zero Trust: no confiar en nada, verificar todo.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1417320" cy="1188720"/>
          </a:xfrm>
          <a:prstGeom prst="rect">
            <a:avLst/>
          </a:prstGeom>
          <a:solidFill>
            <a:srgbClr val="8A8880"/>
          </a:solidFill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público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DMZ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portal · correo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8620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Servidores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web · BD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4068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4068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Académica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estudiantes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9516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0B0F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9516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Administrativa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9516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nómina · finanzas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4964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4964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Invitados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964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visitantes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2743200"/>
            <a:ext cx="1417320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104120" y="2880360"/>
            <a:ext cx="1417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Georgia"/>
              </a:rPr>
              <a:t>IoT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4120" y="3291840"/>
            <a:ext cx="141732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900" b="0" i="0">
                <a:solidFill>
                  <a:srgbClr val="8A8880"/>
                </a:solidFill>
                <a:latin typeface="Arial"/>
              </a:rPr>
              <a:t>cámaras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5798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1246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6694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2142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7590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0384" y="3246120"/>
            <a:ext cx="1828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200" b="0" i="0">
                <a:solidFill>
                  <a:srgbClr val="8A8880"/>
                </a:solidFill>
                <a:latin typeface="Georgia"/>
              </a:rPr>
              <a:t>→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77240" y="4572000"/>
            <a:ext cx="10637215" cy="0"/>
          </a:xfrm>
          <a:prstGeom prst="line">
            <a:avLst/>
          </a:prstGeom>
          <a:ln w="9525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77240" y="475488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BENEFICIOS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0749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Limita movimiento lateral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486400"/>
            <a:ext cx="23849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Una intrusión no se propaga.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36543" y="50749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Reduce impacto malware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6543" y="5486400"/>
            <a:ext cx="23849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Contención por segmento.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95847" y="50749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Facilita monitoreo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095847" y="5486400"/>
            <a:ext cx="23849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Tráfico por zona, más visible.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55151" y="5074920"/>
            <a:ext cx="2384983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0B0F14"/>
                </a:solidFill>
                <a:latin typeface="Georgia"/>
              </a:rPr>
              <a:t>Mínimo privilegio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55151" y="5486400"/>
            <a:ext cx="2384983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Cada zona con sus reglas.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0  4     ·     P  R  O  T  E  C  C  I  Ó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73152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Georgia"/>
              </a:rPr>
              <a:t>Filtrado de tráfico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373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sz="1200" b="0" i="0">
                <a:solidFill>
                  <a:srgbClr val="5E6268"/>
                </a:solidFill>
                <a:latin typeface="Arial"/>
              </a:rPr>
              <a:t>Permitir, bloquear o inspeccionar según reglas: IP, puerto, protocolo, usuario, aplicación, horario, reputación, comportamiento.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743200"/>
            <a:ext cx="4114800" cy="6400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2743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Georgia"/>
              </a:rPr>
              <a:t>Perímetro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7432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Firewall · ACL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657600"/>
            <a:ext cx="4114800" cy="6400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657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  <a:latin typeface="Georgia"/>
              </a:rPr>
              <a:t>Inspección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6576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IDS · IPS · WAF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572000"/>
            <a:ext cx="4114800" cy="640080"/>
          </a:xfrm>
          <a:prstGeom prst="rect">
            <a:avLst/>
          </a:prstGeom>
          <a:noFill/>
          <a:ln w="9525">
            <a:solidFill>
              <a:srgbClr val="B88A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45720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B88A2E"/>
                </a:solidFill>
                <a:latin typeface="Georgia"/>
              </a:rPr>
              <a:t>Acceso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4572000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B88A2E"/>
                </a:solidFill>
                <a:latin typeface="Arial"/>
              </a:rPr>
              <a:t>NAC · SIEM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97480" y="33832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E6268"/>
                </a:solidFill>
                <a:latin typeface="Georgia"/>
              </a:rPr>
              <a:t>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97480" y="42976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400" b="0" i="0">
                <a:solidFill>
                  <a:srgbClr val="5E6268"/>
                </a:solidFill>
                <a:latin typeface="Georgia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8600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Georgia"/>
              </a:rPr>
              <a:t>Herramientas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446520" y="2743200"/>
            <a:ext cx="5029200" cy="0"/>
          </a:xfrm>
          <a:prstGeom prst="line">
            <a:avLst/>
          </a:prstGeom>
          <a:ln w="6350">
            <a:solidFill>
              <a:srgbClr val="5E62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446520" y="29260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Firewall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9260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Controla tráfico entre redes.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2918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ACL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2918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Reglas en routers y switches.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6576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IDS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36576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Detecta intrusiones (alerta).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IPS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09560" y="40233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Previene intrusiones (bloquea).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3891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WAF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4389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Protege apps web y APIs.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75488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NAC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09560" y="47548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Controla quién se conecta.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12064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B88A2E"/>
                </a:solidFill>
                <a:latin typeface="Georgia"/>
              </a:rPr>
              <a:t>SIEM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51206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5E6268"/>
                </a:solidFill>
                <a:latin typeface="Arial"/>
              </a:rPr>
              <a:t>Centraliza y correlaciona registros.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0  4     ·     P  R  O  T  E  C  C  I  Ó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6012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400" b="0" i="0">
                <a:solidFill>
                  <a:srgbClr val="0B0F14"/>
                </a:solidFill>
                <a:latin typeface="Georgia"/>
              </a:rPr>
              <a:t>Plan de protección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65960"/>
            <a:ext cx="3657600" cy="29260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20000" b="0" i="1">
                <a:solidFill>
                  <a:srgbClr val="DDD6C5"/>
                </a:solidFill>
                <a:latin typeface="Georgia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5120640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2200" b="0" i="1">
                <a:solidFill>
                  <a:srgbClr val="B88A2E"/>
                </a:solidFill>
                <a:latin typeface="Georgia"/>
              </a:rPr>
              <a:t>controles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73736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0" y="171907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Clasificar activos e información crítica.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166360" y="2084832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66360" y="217627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0" y="215798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Segmentar la red por función y criticidad.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166360" y="2523744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166360" y="261518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15000" y="259689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Firewall y ACL: denegar por defecto.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166360" y="2962656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166360" y="305409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03580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VPN + MFA para acceso remoto.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166360" y="3401568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166360" y="349300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347472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TLS actualizado en servicios web.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166360" y="3840480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166360" y="393192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3913632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IPsec entre sedes.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166360" y="4279392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66360" y="437083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4352544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Equipos y sistemas actualizados.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166360" y="4718304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166360" y="480974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4791456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Monitoreo con IDS, IPS y SIEM.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166360" y="5157216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166360" y="524865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5230368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Plan de respuesta a incidentes.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166360" y="5596128"/>
            <a:ext cx="7040880" cy="0"/>
          </a:xfrm>
          <a:prstGeom prst="line">
            <a:avLst/>
          </a:prstGeom>
          <a:ln w="6350">
            <a:solidFill>
              <a:srgbClr val="EAE4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166360" y="56875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B88A2E"/>
                </a:solidFill>
                <a:latin typeface="Georgia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15000" y="566928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B0F14"/>
                </a:solidFill>
                <a:latin typeface="Arial"/>
              </a:rPr>
              <a:t>Ciclo PHVA continuo.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1264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88A2E"/>
                </a:solidFill>
                <a:latin typeface="Georgia"/>
              </a:rPr>
              <a:t>Mínimo privilegio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446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8A8880"/>
                </a:solidFill>
                <a:latin typeface="Arial"/>
              </a:rPr>
              <a:t>Cada quien, solo lo que necesita.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1828800"/>
            <a:ext cx="5486400" cy="5486400"/>
          </a:xfrm>
          <a:prstGeom prst="ellipse">
            <a:avLst/>
          </a:prstGeom>
          <a:noFill/>
          <a:ln w="9525">
            <a:solidFill>
              <a:srgbClr val="1A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789920" y="3200400"/>
            <a:ext cx="3657600" cy="3657600"/>
          </a:xfrm>
          <a:prstGeom prst="ellipse">
            <a:avLst/>
          </a:prstGeom>
          <a:noFill/>
          <a:ln w="9525">
            <a:solidFill>
              <a:srgbClr val="1A20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B88A2E"/>
                </a:solidFill>
                <a:latin typeface="Arial"/>
              </a:rPr>
              <a:t>C  I  E  R  R  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630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0">
                <a:solidFill>
                  <a:srgbClr val="FFFFFF"/>
                </a:solidFill>
                <a:latin typeface="Georgia"/>
              </a:rPr>
              <a:t>La seguridad IP no depende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945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3600" b="0" i="1">
                <a:solidFill>
                  <a:srgbClr val="B88A2E"/>
                </a:solidFill>
                <a:latin typeface="Georgia"/>
              </a:rPr>
              <a:t>de una sola tecnología.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7240" y="3291840"/>
            <a:ext cx="2743200" cy="0"/>
          </a:xfrm>
          <a:prstGeom prst="line">
            <a:avLst/>
          </a:prstGeom>
          <a:ln w="15875">
            <a:solidFill>
              <a:srgbClr val="B88A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77240" y="3611880"/>
            <a:ext cx="10515600" cy="1463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55000"/>
              </a:lnSpc>
            </a:pPr>
            <a:r>
              <a:rPr sz="1300" b="0" i="0">
                <a:solidFill>
                  <a:srgbClr val="F4F1EA"/>
                </a:solidFill>
                <a:latin typeface="Arial"/>
              </a:rPr>
              <a:t>IPsec, VPN y TLS protegen los datos en tránsito. La segmentación limita el alcance de una intrusión. El filtrado controla el tráfico. Y la gestión de riesgos —exigida por el marco colombiano y alineada con ISO 27001— hace que la seguridad sea un proceso continuo.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34924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0" i="1">
                <a:solidFill>
                  <a:srgbClr val="FFFFFF"/>
                </a:solidFill>
                <a:latin typeface="Georgia"/>
              </a:rPr>
              <a:t>La meta no es una red invulnerable, sino reducir la probabilidad y el impacto.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263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300" b="0" i="1">
                <a:solidFill>
                  <a:srgbClr val="B88A2E"/>
                </a:solidFill>
                <a:latin typeface="Georgia"/>
              </a:rPr>
              <a:t>Gracias · Preguntas</a:t>
            </a:r>
          </a:p>
        </p:txBody>
      </p:sp>
      <p:sp>
        <p:nvSpPr>
          <p:cNvPr id="12" name="btn_volver">
            <a:hlinkClick action="ppaction://hlinksldjump" r:id="rId2"/>
          </p:cNvPr>
          <p:cNvSpPr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  <a:ln w="9525">
            <a:solidFill>
              <a:srgbClr val="5E6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tn_volver_txt"/>
          <p:cNvSpPr txBox="1"/>
          <p:nvPr/>
        </p:nvSpPr>
        <p:spPr>
          <a:xfrm>
            <a:off x="9311335" y="50292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4F1EA"/>
                </a:solidFill>
                <a:latin typeface="Arial"/>
              </a:rPr>
              <a:t>←  Volver al índice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